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6" r:id="rId10"/>
    <p:sldId id="276" r:id="rId11"/>
    <p:sldId id="279" r:id="rId12"/>
    <p:sldId id="267" r:id="rId13"/>
    <p:sldId id="269" r:id="rId14"/>
    <p:sldId id="270" r:id="rId15"/>
    <p:sldId id="268" r:id="rId16"/>
    <p:sldId id="272" r:id="rId17"/>
    <p:sldId id="273" r:id="rId18"/>
    <p:sldId id="278" r:id="rId19"/>
    <p:sldId id="277" r:id="rId20"/>
    <p:sldId id="280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E787F-4CBC-42F3-9567-60A6F2DE0543}" v="489" dt="2025-11-03T00:43:07.14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0592" autoAdjust="0"/>
  </p:normalViewPr>
  <p:slideViewPr>
    <p:cSldViewPr snapToGrid="0">
      <p:cViewPr varScale="1">
        <p:scale>
          <a:sx n="46" d="100"/>
          <a:sy n="46" d="100"/>
        </p:scale>
        <p:origin x="144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0877D-800D-4F22-983D-F2C9B286A6AB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F77F7-6964-4054-8642-A91CE3022D3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1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Implementacion</a:t>
            </a:r>
            <a:r>
              <a:rPr lang="es-MX" dirty="0"/>
              <a:t> digital</a:t>
            </a:r>
          </a:p>
          <a:p>
            <a:r>
              <a:rPr lang="es-MX" dirty="0" err="1"/>
              <a:t>Analisis</a:t>
            </a:r>
            <a:r>
              <a:rPr lang="es-MX" dirty="0"/>
              <a:t> del lazo cerrado!!!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77F7-6964-4054-8642-A91CE3022D32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273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</a:t>
            </a:r>
            <a:r>
              <a:rPr lang="es-MX" dirty="0" err="1"/>
              <a:t>overshoot</a:t>
            </a:r>
            <a:r>
              <a:rPr lang="es-MX" dirty="0"/>
              <a:t> en sí no tiene nada de malo pero la aceleración vertical negativa está muy limitada!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77F7-6964-4054-8642-A91CE3022D32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5227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Buen seguimiento de referencia. No analizo el resto porque no hay perturbaciones sobre la velocidad.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77F7-6964-4054-8642-A91CE3022D32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265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ITAE: Integral </a:t>
            </a:r>
            <a:r>
              <a:rPr lang="es-MX" dirty="0" err="1"/>
              <a:t>of</a:t>
            </a:r>
            <a:r>
              <a:rPr lang="es-MX" dirty="0"/>
              <a:t> Time times Absolute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77F7-6964-4054-8642-A91CE3022D32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5122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Revisar anchos de banda: actitud y velocidad (</a:t>
            </a:r>
            <a:r>
              <a:rPr lang="es-MX" dirty="0" err="1"/>
              <a:t>posicion</a:t>
            </a:r>
            <a:r>
              <a:rPr lang="es-MX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77F7-6964-4054-8642-A91CE3022D32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353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162E-1D5B-15D1-4ACC-0C64B1F79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B8852-A9D7-89FB-D835-06286608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0BC8C-75A4-9007-6CD9-47767567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76849-BA74-8CCF-4786-6A55CBA0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09330-64A8-638A-3DAD-15F94562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609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E5D4-099F-863A-03C4-71843773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A9CF-BB48-843A-313C-1C347011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E7363-6AEE-ECEB-0C87-622382D4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82E86-CC6F-CD2F-3B69-9D768EE5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2F467-8C10-6374-7631-42E98EFB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686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63CE-DBE4-65C2-524D-C3422D56C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23557-F6F1-C4B7-97D5-B11018C79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A572D-75F1-B550-CCD3-59D3548E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76065-26FB-2120-A7BF-13E55315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2B45-7655-ED4A-0ADE-A0185D10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520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D31D-15AF-4284-FD7F-093C36A1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3046-2267-FB7F-7DC8-FD2E598D4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C7CA9-AAD0-AF5A-564C-86D8AD4A6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89EA9-35F8-73D7-95B3-BB0CC1A4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DED7F-0C00-DC30-FBEA-456B370A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87DA2-94B9-8D2E-26A1-82D5AFAC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764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083A-2E3C-D1D1-2A91-947D712E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02A1E-E561-BCA5-90EC-8EBEE3EE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0FCC9-CB20-3641-BC73-AE01852ED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D9C46-C281-335D-CC76-860F368CF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A5FA1-A55E-13D4-F5B7-7F4194952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FF3F0-A073-CDA6-C154-D9B41DE6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C517D-0C61-2609-6425-4E6B3DBA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5BB0D-F933-ADDB-5319-0CE9BCD9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302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AEBD-9FE1-4791-10E8-9C362F32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E2EFD-F1B7-8431-1600-D88EB843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5DDD3-F8C7-A98C-17E5-D688120B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22642-9BC5-C976-BD9D-5BC4030D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02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4A59C-CC9F-755A-7B17-686C3369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3105B-CB5C-9393-4A3A-DAFB43CB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1ECAC-5918-CA9A-2C10-FD28A3E1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444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80B3-B34B-0209-17B3-478BC1303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8073A-DF70-40DB-05A1-A4684C278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2CE10-58DD-5C75-8663-B461C6E1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652E7-B68C-2833-F47F-1AEC63BE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7B022-61AC-D2C9-C02E-D9CC0C78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558D0-D72C-8DB2-66E4-97C90D3F0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019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3631-EDA9-DCFA-ECBB-53489FC77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AEBB6-00DD-BDD2-D034-0901D46A8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9B652-9835-3A93-8E46-4C87AEFE1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3FE7-F1D0-93F1-A3E6-868CB155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962BB-AADB-5861-0830-AA65016C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48D9C-97F4-5E8E-D314-0CE01DB8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029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E6BA-159F-2C70-BDFF-B0C1CBA3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E84F6-E62D-9A04-776F-55C20E908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5BA62-AE17-73C0-EDE8-C54DF83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8A09-F56B-2653-3987-3BFC8CD8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85AA2-32B9-25F8-5DEE-44C02C69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129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D0CBD-E82D-6BB4-103D-60B47131A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9D5C7-EDE6-9381-7C85-9BB6C8D62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DA4ED-D42E-1B06-D198-44F58B3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6F46-0406-8DDC-2D39-3C8E9A07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FD669-D228-781A-DFF8-C4764D4B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463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961FF-4D31-B009-1E20-3C004291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7D7AF-8136-1716-D60E-B2AB43835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1D44F-7A62-3299-6227-14ADF20D7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EA64E-C81A-45E4-B685-FEFC3829B930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E0287-E1F2-80D9-559E-63881B0D8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D58B-AD6B-7D40-BDF7-9F415D3F9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AB456-405D-427E-81CF-10ACD8D23A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749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ti.com/content/ttiinc/en/apps/part-detail.html?partsNumber=RC0805FR-0710KL&amp;mfgShortname=YAG&amp;utm=PNC2024&amp;utm_term=rc0805fr-0710kl&amp;gad_source=1&amp;gad_campaignid=20878198023&amp;gbraid=0AAAAADvyBAaTIXS70ZcA1ACF5BjLd0iZT&amp;gclid=CjwKCAjw3tzHBhBREiwAlMJoUgZRJRGsWpCBGuDlJo5yNrh95f21btbi1oQjma-UuY86LWtsakTclBoCjrkQAvD_BwE" TargetMode="External"/><Relationship Id="rId2" Type="http://schemas.openxmlformats.org/officeDocument/2006/relationships/hyperlink" Target="https://www.mouser.com/ProductDetail/KEMET/C0805C394K5RACTU?qs=xu2oz4pPi4XocZmSVNk%2F7A%3D%3D&amp;srsltid=AfmBOooBVDxfB78oy5UKZEAtaU8ncNJZ59ScAmt5uWuRzuRvE83_FNi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products/detail/te-connectivity-passive-product/CRG0805F22K/2380871" TargetMode="External"/><Relationship Id="rId2" Type="http://schemas.openxmlformats.org/officeDocument/2006/relationships/hyperlink" Target="https://ar.mouser.com/ProductDetail/KEMET/R76MN35605050J?qs=pUKx8fyJudBHlla9XrFXeQ%3D%3D&amp;srsltid=AfmBOorqjpCV51VNx68SswJUWSQ5WMJwKGQa_aw8MSYunq-FV8OZsUPK&amp;_gl=1*1hv38cz*_ga*dW5kZWZpbmVk*_ga_15W4STQT4T*dW5kZWZpbmVk*_ga_1KQLCYKRX3*dW5kZWZpbmV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210-2342-93B9-1846-92547FC1F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Fase 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75907-445E-2C7F-38BB-7F08ED6C4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Allan Olivito</a:t>
            </a:r>
          </a:p>
          <a:p>
            <a:r>
              <a:rPr lang="es-MX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0314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91523E-0A4C-4AE6-4C9C-3EFB9098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50" y="1059189"/>
            <a:ext cx="7055032" cy="4254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C3A301-1807-2CD2-8CEE-FE59139AA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8" y="5116334"/>
            <a:ext cx="5235899" cy="1378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D2AEC-12BA-0F7B-7FEA-0DCA09D17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115" y="5183569"/>
            <a:ext cx="2082423" cy="10029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3D3672-CE41-D6DB-1251-9595F9A0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Implementación analógica del controlador del lazo interno</a:t>
            </a: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6694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ECE2E8-0A9C-1509-D6A9-69B34E7DB4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698083" y="4507428"/>
                <a:ext cx="8434389" cy="973207"/>
              </a:xfrm>
            </p:spPr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ECE2E8-0A9C-1509-D6A9-69B34E7DB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698083" y="4507428"/>
                <a:ext cx="8434389" cy="973207"/>
              </a:xfrm>
              <a:blipFill>
                <a:blip r:embed="rId2"/>
                <a:stretch>
                  <a:fillRect t="-51875" b="-493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27E1F-CBDE-DB9E-9D6C-EE5BD52E5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39024" y="1825625"/>
                <a:ext cx="3914775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=0.00398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27E1F-CBDE-DB9E-9D6C-EE5BD52E5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39024" y="1825625"/>
                <a:ext cx="3914775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F483C5-0374-77B1-14A6-14A2BFC2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603" y="919594"/>
            <a:ext cx="4461397" cy="30817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20F826-EAA8-8B8B-A1FB-A96442481BD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/>
              <a:t>Implementación analógica del controlador del lazo interno</a:t>
            </a:r>
            <a:br>
              <a:rPr lang="es-MX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590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C756-30C3-E100-1A16-F9C4DF8B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Implementación analógica del controlador del lazo interno</a:t>
            </a:r>
            <a:br>
              <a:rPr lang="es-MX" dirty="0"/>
            </a:b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9D4CE-664A-F7E0-8CF7-DFD51A69C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Se propone:</a:t>
                </a:r>
              </a:p>
              <a:p>
                <a:pPr marL="0" indent="0">
                  <a:buNone/>
                </a:pPr>
                <a:r>
                  <a:rPr lang="es-MX" dirty="0">
                    <a:hlinkClick r:id="rId2"/>
                  </a:rPr>
                  <a:t>C1: KEMET / C0805C394K5RACTU – 0.39 </a:t>
                </a:r>
                <a:r>
                  <a:rPr lang="es-MX" dirty="0" err="1">
                    <a:hlinkClick r:id="rId2"/>
                  </a:rPr>
                  <a:t>uF</a:t>
                </a:r>
                <a:r>
                  <a:rPr lang="es-MX" dirty="0"/>
                  <a:t> (50 VDC)</a:t>
                </a:r>
              </a:p>
              <a:p>
                <a:pPr marL="0" indent="0">
                  <a:buNone/>
                </a:pPr>
                <a:r>
                  <a:rPr lang="es-MX" dirty="0">
                    <a:hlinkClick r:id="rId3"/>
                  </a:rPr>
                  <a:t>R1: </a:t>
                </a:r>
                <a:r>
                  <a:rPr lang="es-MX" dirty="0" err="1">
                    <a:hlinkClick r:id="rId3"/>
                  </a:rPr>
                  <a:t>Yageo</a:t>
                </a:r>
                <a:r>
                  <a:rPr lang="es-MX" dirty="0">
                    <a:hlinkClick r:id="rId3"/>
                  </a:rPr>
                  <a:t> RC0805FR-0710KL - 10000</a:t>
                </a:r>
                <a:r>
                  <a:rPr lang="el-GR" dirty="0">
                    <a:hlinkClick r:id="rId3"/>
                  </a:rPr>
                  <a:t>Ω</a:t>
                </a:r>
                <a:r>
                  <a:rPr lang="es-MX" dirty="0">
                    <a:hlinkClick r:id="rId3"/>
                  </a:rPr>
                  <a:t> </a:t>
                </a:r>
                <a:r>
                  <a:rPr lang="es-MX" dirty="0"/>
                  <a:t>(chequear)</a:t>
                </a:r>
                <a:endParaRPr lang="sv-SE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0.0039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=0.00398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9D4CE-664A-F7E0-8CF7-DFD51A69C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7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51618-2F3C-3C23-6A5D-368344E04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8823" y="1853906"/>
                <a:ext cx="1145435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Se propone:</a:t>
                </a:r>
              </a:p>
              <a:p>
                <a:pPr marL="0" indent="0">
                  <a:buNone/>
                </a:pPr>
                <a:r>
                  <a:rPr lang="sv-SE" dirty="0">
                    <a:hlinkClick r:id="rId2"/>
                  </a:rPr>
                  <a:t>C2: KEMET R76MN35605050J - 0.56 µF</a:t>
                </a:r>
                <a:r>
                  <a:rPr lang="sv-SE" dirty="0"/>
                  <a:t> (400 VDC)</a:t>
                </a:r>
              </a:p>
              <a:p>
                <a:pPr marL="0" indent="0">
                  <a:buNone/>
                </a:pPr>
                <a:r>
                  <a:rPr lang="sv-SE" dirty="0">
                    <a:hlinkClick r:id="rId3"/>
                  </a:rPr>
                  <a:t>R2: </a:t>
                </a:r>
                <a:r>
                  <a:rPr lang="es-MX" dirty="0">
                    <a:hlinkClick r:id="rId3"/>
                  </a:rPr>
                  <a:t>TE </a:t>
                </a:r>
                <a:r>
                  <a:rPr lang="es-MX" dirty="0" err="1">
                    <a:hlinkClick r:id="rId3"/>
                  </a:rPr>
                  <a:t>Connectivity</a:t>
                </a:r>
                <a:r>
                  <a:rPr lang="es-MX" dirty="0">
                    <a:hlinkClick r:id="rId3"/>
                  </a:rPr>
                  <a:t> CRG0805F22K</a:t>
                </a:r>
                <a:r>
                  <a:rPr lang="es-MX" dirty="0"/>
                  <a:t> - 22000</a:t>
                </a:r>
                <a:r>
                  <a:rPr lang="el-GR" dirty="0"/>
                  <a:t>Ω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44.4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22000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=89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𝑚𝑊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0.0123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=0.0127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51618-2F3C-3C23-6A5D-368344E04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823" y="1853906"/>
                <a:ext cx="11454353" cy="4351338"/>
              </a:xfrm>
              <a:blipFill>
                <a:blip r:embed="rId4"/>
                <a:stretch>
                  <a:fillRect l="-1118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37CA093F-8A10-311E-A73F-3C62364A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Implementación analógica del controlador del lazo interno</a:t>
            </a: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2368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AC946-A761-8DED-E80D-C4B452407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Por último, reutilizando las resistencias ya utilizadas: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=1.01≈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AC946-A761-8DED-E80D-C4B452407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C2CB84A-FC2A-9D7E-C484-513913308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Implementación analógica del controlador del lazo interno</a:t>
            </a: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2709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3803F-8109-A539-0DB6-DD3AB6A2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 de la implementación analógica</a:t>
            </a:r>
          </a:p>
        </p:txBody>
      </p: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EF6FD347-16DB-EA0C-1D7F-F6CB2D197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00" y="672307"/>
            <a:ext cx="7341490" cy="502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9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42CD-446F-FB98-F8B4-B99BA9B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Implementación digital del Lazo interno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EBEB7-3FE5-DA47-AA77-4B463CDEF4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j-lt"/>
                  </a:rPr>
                  <a:t>Para </a:t>
                </a:r>
                <a:r>
                  <a:rPr lang="en-US" dirty="0" err="1">
                    <a:latin typeface="+mj-lt"/>
                  </a:rPr>
                  <a:t>el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controlador</a:t>
                </a:r>
                <a:r>
                  <a:rPr lang="en-US" dirty="0">
                    <a:latin typeface="+mj-lt"/>
                  </a:rPr>
                  <a:t>, se </a:t>
                </a:r>
                <a:r>
                  <a:rPr lang="en-US" dirty="0" err="1">
                    <a:latin typeface="+mj-lt"/>
                  </a:rPr>
                  <a:t>discretiza</a:t>
                </a:r>
                <a:r>
                  <a:rPr lang="en-US" dirty="0">
                    <a:latin typeface="+mj-lt"/>
                  </a:rPr>
                  <a:t> con </a:t>
                </a:r>
                <a:r>
                  <a:rPr lang="en-US" dirty="0" err="1">
                    <a:latin typeface="+mj-lt"/>
                  </a:rPr>
                  <a:t>el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método</a:t>
                </a:r>
                <a:r>
                  <a:rPr lang="en-US" dirty="0">
                    <a:latin typeface="+mj-lt"/>
                  </a:rPr>
                  <a:t> de Tustin </a:t>
                </a:r>
                <a:r>
                  <a:rPr lang="en-US" dirty="0" err="1">
                    <a:latin typeface="+mj-lt"/>
                  </a:rPr>
                  <a:t>que</a:t>
                </a:r>
                <a:r>
                  <a:rPr lang="en-US" dirty="0">
                    <a:latin typeface="+mj-lt"/>
                  </a:rPr>
                  <a:t> produce </a:t>
                </a:r>
                <a:r>
                  <a:rPr lang="en-US" dirty="0" err="1">
                    <a:latin typeface="+mj-lt"/>
                  </a:rPr>
                  <a:t>una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aproximación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fiel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en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frecuencias</a:t>
                </a:r>
                <a:r>
                  <a:rPr lang="en-US" dirty="0">
                    <a:latin typeface="+mj-lt"/>
                  </a:rPr>
                  <a:t>; </a:t>
                </a:r>
                <a:r>
                  <a:rPr lang="en-US" dirty="0" err="1">
                    <a:latin typeface="+mj-lt"/>
                  </a:rPr>
                  <a:t>conserva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el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comportamiento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dinámico</a:t>
                </a:r>
                <a:r>
                  <a:rPr lang="en-US" dirty="0">
                    <a:latin typeface="+mj-lt"/>
                  </a:rPr>
                  <a:t> con </a:t>
                </a:r>
                <a:r>
                  <a:rPr lang="en-US" dirty="0" err="1">
                    <a:latin typeface="+mj-lt"/>
                  </a:rPr>
                  <a:t>el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prewarp</a:t>
                </a:r>
                <a:r>
                  <a:rPr lang="en-US" dirty="0">
                    <a:latin typeface="+mj-lt"/>
                  </a:rPr>
                  <a:t>.</a:t>
                </a:r>
                <a:endParaRPr lang="en-US" b="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𝑐𝑟𝑢𝑐𝑒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𝑤𝑎𝑟𝑝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𝑐𝑟𝑢𝑐𝑒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La planta es discretizada con ZOH, que mantiene constante la señal durante el período de muestreo.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EBEB7-3FE5-DA47-AA77-4B463CDE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34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with a red line&#10;&#10;AI-generated content may be incorrect.">
            <a:extLst>
              <a:ext uri="{FF2B5EF4-FFF2-40B4-BE49-F238E27FC236}">
                <a16:creationId xmlns:a16="http://schemas.microsoft.com/office/drawing/2014/main" id="{4D1C664A-B6E7-1098-AB06-4899F3631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42033"/>
            <a:ext cx="5294716" cy="357393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EF231E04-B2CD-5156-877E-14A6093F4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642034"/>
            <a:ext cx="5294715" cy="357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7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8A81-DF4C-B808-2601-AE69A493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</a:t>
            </a:r>
            <a:r>
              <a:rPr lang="es-MX" dirty="0" err="1"/>
              <a:t>ón</a:t>
            </a:r>
            <a:r>
              <a:rPr lang="es-MX" dirty="0"/>
              <a:t> de Requerimientos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8136-CBFF-820E-8AD6-94BD1BB08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MX" dirty="0" err="1"/>
              <a:t>Hover</a:t>
            </a:r>
            <a:r>
              <a:rPr lang="es-MX" dirty="0"/>
              <a:t> con error de altitud máximo de 0.5m en 2 segundos de respuesta para escalones de referencia de 5 m.</a:t>
            </a:r>
          </a:p>
          <a:p>
            <a:pPr>
              <a:buFontTx/>
              <a:buChar char="-"/>
            </a:pPr>
            <a:r>
              <a:rPr lang="es-MX" dirty="0" err="1"/>
              <a:t>Overshoot</a:t>
            </a:r>
            <a:r>
              <a:rPr lang="es-MX" dirty="0"/>
              <a:t> en la respuesta de máximo </a:t>
            </a:r>
            <a:r>
              <a:rPr lang="es-MX" strike="sngStrike" dirty="0"/>
              <a:t>25% </a:t>
            </a:r>
            <a:r>
              <a:rPr lang="es-MX" dirty="0"/>
              <a:t>10%.</a:t>
            </a:r>
            <a:endParaRPr lang="es-MX" strike="sngStrike" dirty="0"/>
          </a:p>
          <a:p>
            <a:pPr>
              <a:buFontTx/>
              <a:buChar char="-"/>
            </a:pPr>
            <a:r>
              <a:rPr lang="es-MX" dirty="0"/>
              <a:t>Amplitud entre picos de máximo 25%.</a:t>
            </a:r>
          </a:p>
          <a:p>
            <a:pPr>
              <a:buFontTx/>
              <a:buChar char="-"/>
            </a:pPr>
            <a:r>
              <a:rPr lang="es-MX" dirty="0"/>
              <a:t>Rechazo de perturbaciones por ráfagas, turbulencia y viento de hasta 5 m/s.</a:t>
            </a:r>
          </a:p>
          <a:p>
            <a:pPr>
              <a:buFontTx/>
              <a:buChar char="-"/>
            </a:pPr>
            <a:r>
              <a:rPr lang="es-MX" dirty="0"/>
              <a:t>Tiempo de establecimiento de actitud 10</a:t>
            </a:r>
            <a:r>
              <a:rPr lang="en-US" dirty="0"/>
              <a:t>±2</a:t>
            </a:r>
            <a:r>
              <a:rPr lang="es-MX" dirty="0"/>
              <a:t> veces más rápido que el de posición.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3453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9D56-C6DE-6AA8-099E-DFF7561A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2103437"/>
            <a:ext cx="10515600" cy="1325563"/>
          </a:xfrm>
        </p:spPr>
        <p:txBody>
          <a:bodyPr/>
          <a:lstStyle/>
          <a:p>
            <a:r>
              <a:rPr lang="es-MX" dirty="0"/>
              <a:t>Controladores de Posición y Velocidad</a:t>
            </a:r>
          </a:p>
        </p:txBody>
      </p:sp>
    </p:spTree>
    <p:extLst>
      <p:ext uri="{BB962C8B-B14F-4D97-AF65-F5344CB8AC3E}">
        <p14:creationId xmlns:p14="http://schemas.microsoft.com/office/powerpoint/2010/main" val="361979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7F3B-4D8F-FA68-EC84-9A3CFB67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3847" cy="1325563"/>
          </a:xfrm>
        </p:spPr>
        <p:txBody>
          <a:bodyPr/>
          <a:lstStyle/>
          <a:p>
            <a:r>
              <a:rPr lang="es-MX" dirty="0"/>
              <a:t>Controlador de Velocidad: parametrización afín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C4BACA-F59D-0B9A-6344-B27CEDAD61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Se plantea una función objetivo </a:t>
                </a:r>
                <a:r>
                  <a:rPr lang="es-MX" dirty="0" err="1"/>
                  <a:t>Fq</a:t>
                </a:r>
                <a:r>
                  <a:rPr lang="es-MX" dirty="0"/>
                  <a:t> para T y se obtiene el compensador que consigue esa sensibilidad complementaria.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𝐾𝐺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𝐾𝐺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C4BACA-F59D-0B9A-6344-B27CEDAD61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184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D7AA-C35C-72DC-5706-C69B8E50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Parametrización afín: consideraciones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6AC53-5ADA-338A-7D10-645B9A120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Para que el compensador sea </a:t>
            </a:r>
            <a:r>
              <a:rPr lang="es-MX" b="1" dirty="0" err="1"/>
              <a:t>bipropio</a:t>
            </a:r>
            <a:r>
              <a:rPr lang="es-MX" dirty="0"/>
              <a:t>, el grado relativo de </a:t>
            </a:r>
            <a:r>
              <a:rPr lang="es-MX" dirty="0" err="1"/>
              <a:t>Fq</a:t>
            </a:r>
            <a:r>
              <a:rPr lang="es-MX" dirty="0"/>
              <a:t>(s) debe ser igual al de la planta. Como la planta es de fase mínima, esta es la única consideración al elegir </a:t>
            </a:r>
            <a:r>
              <a:rPr lang="es-MX" dirty="0" err="1"/>
              <a:t>Fq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Se propone entonces especificar la sensibilidad complementaria a partir de un filtro de Bessel de grado relativo 1 con un ancho de banda de 4 Hz.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1928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1B746A-3EDC-5898-375E-A7D43E953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2122" y="1304290"/>
            <a:ext cx="7927755" cy="5403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8BA546-A8E2-BE34-1C4E-13975BAAC4E4}"/>
              </a:ext>
            </a:extLst>
          </p:cNvPr>
          <p:cNvSpPr txBox="1"/>
          <p:nvPr/>
        </p:nvSpPr>
        <p:spPr>
          <a:xfrm>
            <a:off x="753979" y="601397"/>
            <a:ext cx="98338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Resultados: sensibilidad complementaria</a:t>
            </a:r>
          </a:p>
        </p:txBody>
      </p:sp>
    </p:spTree>
    <p:extLst>
      <p:ext uri="{BB962C8B-B14F-4D97-AF65-F5344CB8AC3E}">
        <p14:creationId xmlns:p14="http://schemas.microsoft.com/office/powerpoint/2010/main" val="3176786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A366-908A-325E-53E9-4488C924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Controlador de Posición: enfoque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185D1-7027-D741-A6CB-F616F8936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3739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dirty="0"/>
                  <a:t>Se busca colocar todos los polos del LC en la posición deseada según los requerimientos.</a:t>
                </a:r>
              </a:p>
              <a:p>
                <a:pPr marL="0" indent="0">
                  <a:buNone/>
                </a:pPr>
                <a:r>
                  <a:rPr lang="es-MX" dirty="0"/>
                  <a:t>La planta es de orden 1 pero se busca que tenga un integrador por lo que se agrega ese integrador a la planta. De tal forma:</a:t>
                </a:r>
              </a:p>
              <a:p>
                <a:pPr marL="0" indent="0">
                  <a:buNone/>
                </a:pPr>
                <a:r>
                  <a:rPr lang="es-MX" dirty="0"/>
                  <a:t>- La “planta aumentada” es de orden 2</a:t>
                </a:r>
              </a:p>
              <a:p>
                <a:pPr>
                  <a:buFontTx/>
                  <a:buChar char="-"/>
                </a:pPr>
                <a:r>
                  <a:rPr lang="es-MX" dirty="0"/>
                  <a:t>El controlador es </a:t>
                </a:r>
                <a:r>
                  <a:rPr lang="es-MX" dirty="0" err="1"/>
                  <a:t>bipropio</a:t>
                </a:r>
                <a:r>
                  <a:rPr lang="es-MX" dirty="0"/>
                  <a:t> de orden 1 (n-1)</a:t>
                </a:r>
              </a:p>
              <a:p>
                <a:pPr marL="0" indent="0">
                  <a:buNone/>
                </a:pPr>
                <a:r>
                  <a:rPr lang="es-MX" dirty="0"/>
                  <a:t>De esta forma, el polinomio de lazo cerrado será de orden 3</a:t>
                </a:r>
              </a:p>
              <a:p>
                <a:pPr marL="0" indent="0" algn="ctr">
                  <a:buNone/>
                </a:pPr>
                <a:endParaRPr lang="es-MX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s-MX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s-MX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s-MX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185D1-7027-D741-A6CB-F616F8936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37393"/>
              </a:xfrm>
              <a:blipFill>
                <a:blip r:embed="rId2"/>
                <a:stretch>
                  <a:fillRect l="-1101" t="-2519" r="-1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90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2151-12DF-30F6-2C86-BAF11B12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Controlador de Posición: enfoque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3788C-F958-3B12-72F0-4022A144C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s-MX" dirty="0"/>
                  <a:t>Estas incógnitas se igualan a un polinomio de tercer orden con respuesta óptima a ITAE, dado por: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1.75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2.15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=3.8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3788C-F958-3B12-72F0-4022A144C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41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518B9-5AEC-62FC-E371-853B895D4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483" y="1404149"/>
            <a:ext cx="10265033" cy="5325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604A6E-1D3C-0E24-A69F-E3CFF1245C65}"/>
              </a:ext>
            </a:extLst>
          </p:cNvPr>
          <p:cNvSpPr txBox="1"/>
          <p:nvPr/>
        </p:nvSpPr>
        <p:spPr>
          <a:xfrm>
            <a:off x="1413620" y="631577"/>
            <a:ext cx="94717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dirty="0"/>
              <a:t>Se obtiene un lazo cerrado con una ganancia mucho mayor a 1 por lo que la respuesta será muy oscilante. Proponer un modelo óptimo ITAE fue un error para los requerimientos dados!</a:t>
            </a:r>
          </a:p>
        </p:txBody>
      </p:sp>
    </p:spTree>
    <p:extLst>
      <p:ext uri="{BB962C8B-B14F-4D97-AF65-F5344CB8AC3E}">
        <p14:creationId xmlns:p14="http://schemas.microsoft.com/office/powerpoint/2010/main" val="313942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27D2BE-D686-D02A-3DF2-30C8225BB3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𝜉𝜔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𝜉𝜔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=0.866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La respuesta no satisface los requerimientos.</a:t>
                </a:r>
              </a:p>
              <a:p>
                <a:pPr marL="0" indent="0">
                  <a:buNone/>
                </a:pPr>
                <a:r>
                  <a:rPr lang="es-MX" dirty="0"/>
                  <a:t>Se prueba no forzar el integrador pero el error estacionario es muy grande.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27D2BE-D686-D02A-3DF2-30C8225BB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FFD01CB-00B4-8A19-010B-BCD0E15336D5}"/>
              </a:ext>
            </a:extLst>
          </p:cNvPr>
          <p:cNvSpPr txBox="1"/>
          <p:nvPr/>
        </p:nvSpPr>
        <p:spPr>
          <a:xfrm>
            <a:off x="636593" y="645019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vuelve a plantear pero con parametrización afín. Nuevamente, se necesita </a:t>
            </a:r>
            <a:r>
              <a:rPr lang="es-MX" b="1" dirty="0"/>
              <a:t>un grado relativo 1 </a:t>
            </a:r>
            <a:r>
              <a:rPr lang="es-MX" dirty="0"/>
              <a:t>pero para forzar el integrador, se necesita </a:t>
            </a:r>
            <a:r>
              <a:rPr lang="es-MX" b="1" dirty="0"/>
              <a:t>agregar un orden en el numerador y el denominador. </a:t>
            </a:r>
            <a:r>
              <a:rPr lang="es-MX" dirty="0"/>
              <a:t>Con Bessel:</a:t>
            </a:r>
            <a:endParaRPr lang="es-MX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105D8-12F7-4E32-89F6-C54446657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99" y="1674256"/>
            <a:ext cx="3403082" cy="154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67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18B4-7956-C8E7-E458-EDAEF581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59" y="0"/>
            <a:ext cx="10515600" cy="1325563"/>
          </a:xfrm>
        </p:spPr>
        <p:txBody>
          <a:bodyPr/>
          <a:lstStyle/>
          <a:p>
            <a:r>
              <a:rPr lang="es-MX" dirty="0"/>
              <a:t>Resultados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A1883-3A42-C8A6-1AD6-24936DC90AF7}"/>
              </a:ext>
            </a:extLst>
          </p:cNvPr>
          <p:cNvSpPr txBox="1"/>
          <p:nvPr/>
        </p:nvSpPr>
        <p:spPr>
          <a:xfrm>
            <a:off x="828674" y="1325563"/>
            <a:ext cx="10379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dirty="0"/>
              <a:t>Finalmente, se propone una </a:t>
            </a:r>
            <a:r>
              <a:rPr lang="es-MX" dirty="0" err="1"/>
              <a:t>Fq</a:t>
            </a:r>
            <a:r>
              <a:rPr lang="es-MX" dirty="0"/>
              <a:t> de grado relativo 2. De esta forma, el controlador es propio por lo que es una implementación realista.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9270FE3-E06F-309C-0D6C-62D55F78D0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872919"/>
                  </p:ext>
                </p:extLst>
              </p:nvPr>
            </p:nvGraphicFramePr>
            <p:xfrm>
              <a:off x="828674" y="2532218"/>
              <a:ext cx="10534089" cy="2714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11363">
                      <a:extLst>
                        <a:ext uri="{9D8B030D-6E8A-4147-A177-3AD203B41FA5}">
                          <a16:colId xmlns:a16="http://schemas.microsoft.com/office/drawing/2014/main" val="3564018532"/>
                        </a:ext>
                      </a:extLst>
                    </a:gridCol>
                    <a:gridCol w="3511363">
                      <a:extLst>
                        <a:ext uri="{9D8B030D-6E8A-4147-A177-3AD203B41FA5}">
                          <a16:colId xmlns:a16="http://schemas.microsoft.com/office/drawing/2014/main" val="1870642167"/>
                        </a:ext>
                      </a:extLst>
                    </a:gridCol>
                    <a:gridCol w="3511363">
                      <a:extLst>
                        <a:ext uri="{9D8B030D-6E8A-4147-A177-3AD203B41FA5}">
                          <a16:colId xmlns:a16="http://schemas.microsoft.com/office/drawing/2014/main" val="21367440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Grado relativo 1 c/ integrador (orden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/>
                            <a:t>Grado relativo 1 s/ integrador (orden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Grado relativo 2 (orden 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213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4.3</m:t>
                                    </m:r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+6.3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MX" dirty="0"/>
                        </a:p>
                        <a:p>
                          <a:r>
                            <a:rPr lang="es-MX" dirty="0"/>
                            <a:t>Controlador 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=2.5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  <a:p>
                          <a:r>
                            <a:rPr lang="es-MX" dirty="0"/>
                            <a:t>Controlador proporcional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6.3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+4.3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MX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/>
                            <a:t>Controlador proporcional con filtro pasa bajo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410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Respuesta muy agresiva con saturación de los controladores.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Tiempo de establecimiento mayor al fijado en los requerimientos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Respuesta deseada. Requerimientos cumplidos.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9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9270FE3-E06F-309C-0D6C-62D55F78D0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872919"/>
                  </p:ext>
                </p:extLst>
              </p:nvPr>
            </p:nvGraphicFramePr>
            <p:xfrm>
              <a:off x="828674" y="2532218"/>
              <a:ext cx="10534089" cy="2714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11363">
                      <a:extLst>
                        <a:ext uri="{9D8B030D-6E8A-4147-A177-3AD203B41FA5}">
                          <a16:colId xmlns:a16="http://schemas.microsoft.com/office/drawing/2014/main" val="3564018532"/>
                        </a:ext>
                      </a:extLst>
                    </a:gridCol>
                    <a:gridCol w="3511363">
                      <a:extLst>
                        <a:ext uri="{9D8B030D-6E8A-4147-A177-3AD203B41FA5}">
                          <a16:colId xmlns:a16="http://schemas.microsoft.com/office/drawing/2014/main" val="1870642167"/>
                        </a:ext>
                      </a:extLst>
                    </a:gridCol>
                    <a:gridCol w="3511363">
                      <a:extLst>
                        <a:ext uri="{9D8B030D-6E8A-4147-A177-3AD203B41FA5}">
                          <a16:colId xmlns:a16="http://schemas.microsoft.com/office/drawing/2014/main" val="213674401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Grado relativo 1 c/ integrador (orden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/>
                            <a:t>Grado relativo 1 s/ integrador (orden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Grado relativo 2 (orden 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213217"/>
                      </a:ext>
                    </a:extLst>
                  </a:tr>
                  <a:tr h="116001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74" t="-57068" r="-201042" b="-87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57068" r="-100693" b="-87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57068" r="-868" b="-87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41081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Respuesta muy agresiva con saturación de los controladores.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Tiempo de establecimiento mayor al fijado en los requerimientos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Respuesta deseada. Requerimientos cumplidos.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91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4293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2B2710-507D-9168-7D94-DB49F43EB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704" y="295200"/>
            <a:ext cx="10972592" cy="62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3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3367-CB36-42BA-0635-6DFF5D71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Controlador de Actitud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3BB39-2E5B-79F2-89FC-DB72C2DCB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objetivo del controlador de actitud es seguir la referencia del ángulo de fuerza.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51CC6-A5ED-03C2-18B6-F9615A9D0DD3}"/>
                  </a:ext>
                </a:extLst>
              </p:cNvPr>
              <p:cNvSpPr txBox="1"/>
              <p:nvPr/>
            </p:nvSpPr>
            <p:spPr>
              <a:xfrm>
                <a:off x="-375485" y="4292611"/>
                <a:ext cx="7330911" cy="2154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endParaRPr lang="es-MX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s-MX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s-MX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389.4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+1984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+30.6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pPr marL="0" indent="0" algn="ctr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51CC6-A5ED-03C2-18B6-F9615A9D0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5485" y="4292611"/>
                <a:ext cx="7330911" cy="2154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207C959-E2A4-BD3C-E7A8-46733A2B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79" y="2641983"/>
            <a:ext cx="7032396" cy="1920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05EB5-A156-9403-E4C6-AB2C7A4CE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735" y="4800362"/>
            <a:ext cx="6310265" cy="169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EE9346-55DC-EDC6-EFBD-E84C62B5A2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𝑝𝑎𝑙𝑎𝑛𝑐𝑎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𝑝𝑎𝑙𝑎𝑛𝑐𝑎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0.001∗0.4∗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351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0.001∗0.4∗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51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2.17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s-MX" dirty="0"/>
                  <a:t>Muy alto! Se propone una aceleración tal que en medio segundo se alcance una actitud máxima fijada en 45°.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=1.57→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=1.57∗2.17=3.4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EE9346-55DC-EDC6-EFBD-E84C62B5A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8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892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E9B9-54BF-AB4C-7424-49416681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Generales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898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4213</TotalTime>
  <Words>962</Words>
  <Application>Microsoft Office PowerPoint</Application>
  <PresentationFormat>Widescreen</PresentationFormat>
  <Paragraphs>121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Fase B</vt:lpstr>
      <vt:lpstr>Implementación analógica del controlador del lazo interno </vt:lpstr>
      <vt:lpstr>=K (Ts+1)/(αTs+1)=K/α  (s+1/T)/(s+1/(α T))</vt:lpstr>
      <vt:lpstr>Implementación analógica del controlador del lazo interno </vt:lpstr>
      <vt:lpstr>Implementación analógica del controlador del lazo interno </vt:lpstr>
      <vt:lpstr>Implementación analógica del controlador del lazo interno </vt:lpstr>
      <vt:lpstr>Resultados de la implementación analógica</vt:lpstr>
      <vt:lpstr>Implementación digital del Lazo interno</vt:lpstr>
      <vt:lpstr>PowerPoint Presentation</vt:lpstr>
      <vt:lpstr>Revisión de Requerimientos</vt:lpstr>
      <vt:lpstr>Controladores de Posición y Velocidad</vt:lpstr>
      <vt:lpstr>Controlador de Velocidad: parametrización afín</vt:lpstr>
      <vt:lpstr>Parametrización afín: consideraciones</vt:lpstr>
      <vt:lpstr>PowerPoint Presentation</vt:lpstr>
      <vt:lpstr>Controlador de Posición: enfoque polinomial</vt:lpstr>
      <vt:lpstr>Controlador de Posición: enfoque polinomial</vt:lpstr>
      <vt:lpstr>PowerPoint Presentation</vt:lpstr>
      <vt:lpstr>PowerPoint Presentation</vt:lpstr>
      <vt:lpstr>Resultados</vt:lpstr>
      <vt:lpstr>PowerPoint Presentation</vt:lpstr>
      <vt:lpstr>Controlador de Actitud</vt:lpstr>
      <vt:lpstr>PowerPoint Presentation</vt:lpstr>
      <vt:lpstr>Resultados Generales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Eloy Olivito</dc:creator>
  <cp:lastModifiedBy>Allan Eloy Olivito</cp:lastModifiedBy>
  <cp:revision>10</cp:revision>
  <dcterms:created xsi:type="dcterms:W3CDTF">2025-10-21T22:16:23Z</dcterms:created>
  <dcterms:modified xsi:type="dcterms:W3CDTF">2025-11-07T17:11:14Z</dcterms:modified>
</cp:coreProperties>
</file>